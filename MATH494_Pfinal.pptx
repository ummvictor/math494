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Final Presentation: Advanced Models, Insights,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Predicting NBA next-season performance from player-season data, 1996-2022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1284C"/>
                </a:solidFill>
                <a:latin typeface="Aptos"/>
              </a:rPr>
              <a:t>Victor Um</a:t>
            </a:r>
          </a:p>
          <a:p>
            <a:pPr algn="ctr">
              <a:defRPr sz="1800">
                <a:solidFill>
                  <a:srgbClr val="222222"/>
                </a:solidFill>
                <a:latin typeface="Aptos"/>
              </a:defRPr>
            </a:pPr>
            <a:r>
              <a:t>MATH 494</a:t>
            </a:r>
          </a:p>
          <a:p>
            <a:pPr algn="ctr">
              <a:defRPr sz="1600">
                <a:solidFill>
                  <a:srgbClr val="646464"/>
                </a:solidFill>
                <a:latin typeface="Aptos"/>
              </a:defRPr>
            </a:pPr>
            <a:r>
              <a:t>Final project focus: advanced modeling, explainability, and real-world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834640"/>
            <a:ext cx="8138160" cy="2103120"/>
          </a:xfrm>
          <a:prstGeom prst="roundRect">
            <a:avLst/>
          </a:prstGeom>
          <a:solidFill>
            <a:srgbClr val="F2F4F7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Today's roadmap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1) Compare advanced and baseline models</a:t>
            </a:r>
            <a:br/>
            <a:r>
              <a:t>2) Explain why the best model wins</a:t>
            </a:r>
            <a:br/>
            <a:r>
              <a:t>3) Interpret player archetypes and practical meaning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From Baseline Models to Advanced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Why move beyond Presentation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5778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Presentation 2 showed that next-season PTS is fairly predictable with linear models.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But the diagnostics also suggested nonlinear structure, overlapping predictors, and some heteroskedasticity.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That motivates models that can learn interactions and nonlinear patterns automatically.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In this final stage, I compare baseline linear models to Random Forest and Gradient Boosting.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937760" cy="18288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What I want to know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Does a more flexible model improve prediction enough to justify losing some interpretability?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566160"/>
            <a:ext cx="4937760" cy="18288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Main target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Next-season points per game (next_pts). I also built saved models for next REB, AST, and TS% for the terminal prediction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Advanced Models Chosen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Performance versus 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66160" cy="24688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Gradient Boosting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Builds many shallow trees sequentially, each one correcting previous errors.</a:t>
            </a:r>
            <a:br/>
            <a:br/>
            <a:r>
              <a:t>Strength: often strong predictive accuracy.</a:t>
            </a:r>
            <a:br/>
            <a:r>
              <a:t>Trade-off: harder to interpret than linear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566160" cy="24688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Random Forest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Averages many decision trees built on random subsets of features and rows.</a:t>
            </a:r>
            <a:br/>
            <a:br/>
            <a:r>
              <a:t>Strength: handles nonlinearities and interactions.</a:t>
            </a:r>
            <a:br/>
            <a:r>
              <a:t>Trade-off: can overfit less than a single tree, but still loses transparency.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566160" cy="24688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LASSO benchmark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My best linear benchmark. It shrinks weaker coefficients toward zero.</a:t>
            </a:r>
            <a:br/>
            <a:br/>
            <a:r>
              <a:t>Strength: interpretable and stable with correlated predictors.</a:t>
            </a:r>
            <a:br/>
            <a:r>
              <a:t>Trade-off: can miss nonlinear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78992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For this final comparison, I keep one strong linear benchmark and compare it to two tree-based advanced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Side-by-Side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All models predict next-season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6903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Test RMSE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Test R²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CV RMSE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CV R²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Overfit Gap</a:t>
                      </a:r>
                    </a:p>
                  </a:txBody>
                  <a:tcPr>
                    <a:solidFill>
                      <a:srgbClr val="11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2.852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0.780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2.825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0.784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0.199</a:t>
                      </a:r>
                    </a:p>
                  </a:txBody>
                  <a:tcPr>
                    <a:solidFill>
                      <a:srgbClr val="DDF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LASSO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Ridge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2.952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3.206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3.180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Aptos"/>
                        </a:rPr>
                        <a:t>0.427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417320"/>
            <a:ext cx="3154680" cy="29260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Headline result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Best overall model: Gradient Boosting</a:t>
            </a:r>
            <a:br/>
            <a:br/>
            <a:r>
              <a:t>Test RMSE = 2.852</a:t>
            </a:r>
            <a:br/>
            <a:r>
              <a:t>Test R² = 0.780</a:t>
            </a:r>
            <a:br/>
            <a:br/>
            <a:r>
              <a:t>Best linear model: LASSO</a:t>
            </a:r>
            <a:br/>
            <a:r>
              <a:t>Random Forest was worst and had the largest overfitting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Test-Set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How the models compare on the holdout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test_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532120" cy="3317111"/>
          </a:xfrm>
          <a:prstGeom prst="rect">
            <a:avLst/>
          </a:prstGeom>
        </p:spPr>
      </p:pic>
      <p:pic>
        <p:nvPicPr>
          <p:cNvPr id="7" name="Picture 6" descr="test_r2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532120" cy="33171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0" y="5230368"/>
            <a:ext cx="6583680" cy="82296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Interpretation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Gradient Boosting is best on both test RMSE and test R², but the margin over LASSO and Ridge is not huge.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Cross-Validation: Does the Improvement Generalize?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A stronger check than a single train/test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cv_rmse_comparis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532120" cy="3317111"/>
          </a:xfrm>
          <a:prstGeom prst="rect">
            <a:avLst/>
          </a:prstGeom>
        </p:spPr>
      </p:pic>
      <p:pic>
        <p:nvPicPr>
          <p:cNvPr id="7" name="Picture 6" descr="cv_r2_comparison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532120" cy="33171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011680" y="5230368"/>
            <a:ext cx="8046720" cy="8686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Why this matters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Gradient Boosting improves average CV RMSE over plain linear regression by 0.127 points per game and improves CV R² by 0.020.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Overfitting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Better accuracy is only useful if the model still generalizes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overfit_gap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92240" cy="3892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463040"/>
            <a:ext cx="39319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LASSO has the smallest RMSE gap (0.034), so it is the most stable.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Gradient Boosting has a moderate gap (0.199), which is acceptable given its best overall accuracy.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Random Forest has the largest gap (0.427), so it appears to overfit the most.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This is why model selection should balance accuracy with robustness.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Visual Fit: Best Linear Model vs Best Advanced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LASSO versus Gradient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best_linear_predict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577840" cy="4183380"/>
          </a:xfrm>
          <a:prstGeom prst="rect">
            <a:avLst/>
          </a:prstGeom>
        </p:spPr>
      </p:pic>
      <p:pic>
        <p:nvPicPr>
          <p:cNvPr id="7" name="Picture 6" descr="best_advanced_predict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577840" cy="41833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011680" y="5257800"/>
            <a:ext cx="8046720" cy="82296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Takeaway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Both models track the diagonal well, but Gradient Boosting is slightly tighter overall, especially in the middle-to-upper scoring range.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Explainability 1: Best Linear Model Coefficients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LASSO gives the clearest coefficient-based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best_linear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06640" cy="59238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0" y="1325880"/>
            <a:ext cx="3749039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Current PTS is the strongest positive signal.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Age is the largest negative coefficient.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Lagged PTS and net rating also matter.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Because numeric predictors were standardized, these coefficients show relative influence, not raw one-unit effects.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Explainability 2: Permutation Importance for Gradient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What hurts performance the most when shuffled?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best_advanced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7589520" cy="60701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3879" y="1325880"/>
            <a:ext cx="33832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Current PTS dominates the importance ranking.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Age is a clear second-tier feature.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PTS_lag1 and net_rating contribute, but much less.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Importance concentrates in a few variables because many basketball features overlap.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Partial Dependence: How Key Features Change the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Holding the rest of the feature distribution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pdp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486400" cy="4114800"/>
          </a:xfrm>
          <a:prstGeom prst="rect">
            <a:avLst/>
          </a:prstGeom>
        </p:spPr>
      </p:pic>
      <p:pic>
        <p:nvPicPr>
          <p:cNvPr id="7" name="Picture 6" descr="pdp_p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54864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97280" y="5349240"/>
            <a:ext cx="9966960" cy="77724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Interpretation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As age increases, predicted next-season scoring falls. As current PTS rises, predicted next-season PTS rises strongly and almost monotonically.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Player Archetypes from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KMeans on player-level averages, then PCA for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player_archetype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086600" cy="55087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1325880"/>
            <a:ext cx="38404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Cluster 0: fringe or low-production bench players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Cluster 1: stable role-player veterans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Cluster 2: primary scorers and star-level players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Cluster 3: guards and secondary creators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Aptos"/>
              </a:defRPr>
            </a:pPr>
            <a:r>
              <a:t>Note: silhouette was highest at k=2 (0.250), but I used k=4 (0.206) because it produced more interpretable basketball roles.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Aging Curves by Archetype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Different player types age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pic>
        <p:nvPicPr>
          <p:cNvPr id="6" name="Picture 5" descr="player_archetype_ag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223760" cy="43314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1234440"/>
            <a:ext cx="3886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1284C"/>
                </a:solidFill>
                <a:latin typeface="Aptos"/>
              </a:defRPr>
            </a:pPr>
            <a:r>
              <a:t>Cluster 2: Primary scorers / star-level players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Aptos"/>
              </a:defRPr>
            </a:pPr>
            <a:r>
              <a:t>Highest-usage, strongest all-around scorers; about 15.3 PPG, 5.6 rebounds, and 3.3 assists. Examples include LeBron James, Dirk Nowitzki, and Kobe Bryant.</a:t>
            </a:r>
          </a:p>
          <a:p>
            <a:pPr>
              <a:spcAft>
                <a:spcPts val="200"/>
              </a:spcAft>
              <a:defRPr sz="1300" b="1">
                <a:solidFill>
                  <a:srgbClr val="11284C"/>
                </a:solidFill>
                <a:latin typeface="Aptos"/>
              </a:defRPr>
            </a:pPr>
            <a:r>
              <a:t>Cluster 3: Guards and secondary creators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Aptos"/>
              </a:defRPr>
            </a:pPr>
            <a:r>
              <a:t>Smaller guards and secondary creators; about 6.2 PPG and 2.0 assists. Examples include Jason Terry, Lou Williams, and D.J. Augustin.</a:t>
            </a:r>
          </a:p>
          <a:p>
            <a:pPr>
              <a:spcAft>
                <a:spcPts val="200"/>
              </a:spcAft>
              <a:defRPr sz="1300" b="1">
                <a:solidFill>
                  <a:srgbClr val="11284C"/>
                </a:solidFill>
                <a:latin typeface="Aptos"/>
              </a:defRPr>
            </a:pPr>
            <a:r>
              <a:t>Cluster 1: Stable role-player veterans (bigs/wings)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Aptos"/>
              </a:defRPr>
            </a:pPr>
            <a:r>
              <a:t>Moderate-scoring, larger role players; about 5.4 PPG and 3.4 rebounds. Examples include Tyson Chandler, Trevor Ariza, and Kyle Korver.</a:t>
            </a:r>
          </a:p>
          <a:p>
            <a:pPr>
              <a:spcAft>
                <a:spcPts val="200"/>
              </a:spcAft>
              <a:defRPr sz="1300" b="1">
                <a:solidFill>
                  <a:srgbClr val="11284C"/>
                </a:solidFill>
                <a:latin typeface="Aptos"/>
              </a:defRPr>
            </a:pPr>
            <a:r>
              <a:t>Cluster 0: Fringe / low-production bench players</a:t>
            </a:r>
          </a:p>
          <a:p>
            <a:pPr>
              <a:spcAft>
                <a:spcPts val="200"/>
              </a:spcAft>
              <a:defRPr sz="1100" b="0">
                <a:solidFill>
                  <a:srgbClr val="222222"/>
                </a:solidFill>
                <a:latin typeface="Aptos"/>
              </a:defRPr>
            </a:pPr>
            <a:r>
              <a:t>Lowest scoring group; around 2.6 PPG with negative net rating. Examples include Michael Ruffin and Dominic McGuire.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Practical Output: Terminal Prediction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From analysis to a usable mini-application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20640" cy="36576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What the tool does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After the final models are trained, the saved bundle lets me type a player name in the terminal and get predicted next-season PTS, REB, AST, and TS%.</a:t>
            </a:r>
            <a:br/>
            <a:br/>
            <a:r>
              <a:t>It uses the player's most recent row in the dataset as the input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34440"/>
            <a:ext cx="5303520" cy="3977639"/>
          </a:xfrm>
          <a:prstGeom prst="roundRect">
            <a:avLst/>
          </a:prstGeom>
          <a:solidFill>
            <a:srgbClr val="1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E6E6E6"/>
                </a:solidFill>
                <a:latin typeface="Consolas"/>
              </a:defRPr>
            </a:pPr>
            <a:r>
              <a:t>python predict_next_season.py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Player name: LeBron James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Outputs: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PTS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REB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AST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TS%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5440680"/>
            <a:ext cx="9235440" cy="6400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Why include this?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It shows the project can move from a research presentation into a simple, user-facing prediction tool.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C2B03-D1BE-0FAF-3B28-8A9EF444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E7C04C-4CC8-55C7-5BF8-F341D1327682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847A9-3ADA-EDC7-C537-E16885FE5670}"/>
              </a:ext>
            </a:extLst>
          </p:cNvPr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Practical Output: Terminal Prediction 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BA4F0-ED0B-0861-4F5E-F82BB97E2333}"/>
              </a:ext>
            </a:extLst>
          </p:cNvPr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From analysis to a usable mini-application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0FD37-C6D6-1AB8-5DEE-5C0884BB25CC}"/>
              </a:ext>
            </a:extLst>
          </p:cNvPr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5F0F7B-B68F-43B3-2F7B-BBE47266C8D1}"/>
              </a:ext>
            </a:extLst>
          </p:cNvPr>
          <p:cNvSpPr/>
          <p:nvPr/>
        </p:nvSpPr>
        <p:spPr>
          <a:xfrm>
            <a:off x="640080" y="1325880"/>
            <a:ext cx="5120640" cy="36576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What the tool does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After the final models are trained, the saved bundle lets me type a player name in the terminal and get predicted next-season PTS, REB, AST, and TS%.</a:t>
            </a:r>
            <a:br/>
            <a:br/>
            <a:r>
              <a:t>It uses the player's most recent row in the dataset as the input profile.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E60578-E9B5-D45C-40E0-2ECE9B6ECB44}"/>
              </a:ext>
            </a:extLst>
          </p:cNvPr>
          <p:cNvSpPr/>
          <p:nvPr/>
        </p:nvSpPr>
        <p:spPr>
          <a:xfrm>
            <a:off x="6035040" y="1234440"/>
            <a:ext cx="5303520" cy="3977639"/>
          </a:xfrm>
          <a:prstGeom prst="roundRect">
            <a:avLst/>
          </a:prstGeom>
          <a:solidFill>
            <a:srgbClr val="1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E6E6E6"/>
                </a:solidFill>
                <a:latin typeface="Consolas"/>
              </a:defRPr>
            </a:pPr>
            <a:r>
              <a:t>python predict_next_season.py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Player name: LeBron James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Outputs: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PTS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REB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AST</a:t>
            </a:r>
          </a:p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t>- Predicted next-season TS%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EA4E8D-7DF8-7FF0-A177-36AE8AB14297}"/>
              </a:ext>
            </a:extLst>
          </p:cNvPr>
          <p:cNvSpPr/>
          <p:nvPr/>
        </p:nvSpPr>
        <p:spPr>
          <a:xfrm>
            <a:off x="1554480" y="5440680"/>
            <a:ext cx="9235440" cy="64008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Why include this?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It shows the project can move from a research presentation into a simple, user-facing prediction tool.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9A1690-5BAB-A76E-95FA-A39BAB862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1" y="749086"/>
            <a:ext cx="12049297" cy="53523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08E407-1832-027B-B815-270BE9C35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39" y="1097280"/>
            <a:ext cx="620485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97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Limitations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Why model performance is not the same as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Survivorship bias: older players in the data are often the ones good enough to stay in the league.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Injury gaps: the model does not observe missed development caused by injuries or recovery.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Role changes: trades, teammates, and coaching systems can change opportunity quickly.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Aptos"/>
              </a:defRPr>
            </a:pPr>
            <a:r>
              <a:t>Correlated inputs: even good models can make some features look more or less important than they truly 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17320"/>
            <a:ext cx="4754880" cy="192024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Ethical caution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These models should support decisions, not replace human judgment in contracts, roster moves, or development plans.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3749039"/>
            <a:ext cx="4754880" cy="164592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Why this matters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A small prediction gain does not automatically justify using a less interpretable model in a high-stakes setting.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Final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ptos"/>
              </a:defRPr>
            </a:pPr>
            <a:r>
              <a:t>What this project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ptos"/>
              </a:defRPr>
            </a:pPr>
            <a:r>
              <a:t>Victor Um | MATH 494 | NBA player performance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Gradient Boosting was the best overall model for next-season PTS, but the improvement over linear regression was modest (0.127 CV RMSE).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LASSO remained a strong benchmark because it was accurate, stable, and much easier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Current scoring and age are the most consistent drivers across both linear and advanced explanations.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Clustering showed that different player archetypes follow different aging curves.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The final project ends with both a research result and a simple prediction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5440680"/>
            <a:ext cx="6492240" cy="685800"/>
          </a:xfrm>
          <a:prstGeom prst="roundRect">
            <a:avLst/>
          </a:prstGeom>
          <a:solidFill>
            <a:srgbClr val="E5EFF9"/>
          </a:solidFill>
          <a:ln>
            <a:solidFill>
              <a:srgbClr val="296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1284C"/>
                </a:solidFill>
                <a:latin typeface="Aptos"/>
              </a:rPr>
              <a:t>Closing message</a:t>
            </a:r>
          </a:p>
          <a:p>
            <a:pPr>
              <a:defRPr sz="1400">
                <a:solidFill>
                  <a:srgbClr val="222222"/>
                </a:solidFill>
                <a:latin typeface="Aptos"/>
              </a:defRPr>
            </a:pPr>
            <a:r>
              <a:t>The best model is not always the most useful model. In this project, performance, explainability, and context all matter.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1609</Words>
  <Application>Microsoft Office PowerPoint</Application>
  <PresentationFormat>Widescreen</PresentationFormat>
  <Paragraphs>183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 Um</dc:creator>
  <cp:keywords/>
  <dc:description>generated using python-pptx</dc:description>
  <cp:lastModifiedBy>victor369.bsns@gmail.com</cp:lastModifiedBy>
  <cp:revision>2</cp:revision>
  <dcterms:created xsi:type="dcterms:W3CDTF">2013-01-27T09:14:16Z</dcterms:created>
  <dcterms:modified xsi:type="dcterms:W3CDTF">2026-05-11T07:00:56Z</dcterms:modified>
  <cp:category/>
</cp:coreProperties>
</file>