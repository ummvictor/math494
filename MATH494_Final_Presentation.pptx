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12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Aptos"/>
              </a:rPr>
              <a:t>Final Presentation: Advanced Models, Insights, and Interpretation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49808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46464"/>
                </a:solidFill>
                <a:latin typeface="Aptos"/>
              </a:defRPr>
            </a:pPr>
            <a:r>
              <a:t>Predicting NBA next-season performance from player-season data, 1996-2022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473952"/>
            <a:ext cx="112471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6464"/>
                </a:solidFill>
                <a:latin typeface="Aptos"/>
              </a:defRPr>
            </a:pPr>
            <a:r>
              <a:t>Victor Um | MATH 494 | NBA player performance modeling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600" b="1">
                <a:solidFill>
                  <a:srgbClr val="11284C"/>
                </a:solidFill>
                <a:latin typeface="Aptos"/>
              </a:rPr>
              <a:t>Victor Um</a:t>
            </a:r>
          </a:p>
          <a:p>
            <a:pPr algn="ctr">
              <a:defRPr sz="1800">
                <a:solidFill>
                  <a:srgbClr val="222222"/>
                </a:solidFill>
                <a:latin typeface="Aptos"/>
              </a:defRPr>
            </a:pPr>
            <a:r>
              <a:t>MATH 494</a:t>
            </a:r>
          </a:p>
          <a:p>
            <a:pPr algn="ctr">
              <a:defRPr sz="1600">
                <a:solidFill>
                  <a:srgbClr val="646464"/>
                </a:solidFill>
                <a:latin typeface="Aptos"/>
              </a:defRPr>
            </a:pPr>
            <a:r>
              <a:t>Final project focus: advanced modeling, explainability, and real-world interpretation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0" y="2834640"/>
            <a:ext cx="8138160" cy="2103120"/>
          </a:xfrm>
          <a:prstGeom prst="roundRect">
            <a:avLst/>
          </a:prstGeom>
          <a:solidFill>
            <a:srgbClr val="F2F4F7"/>
          </a:solidFill>
          <a:ln>
            <a:solidFill>
              <a:srgbClr val="2962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b="1" sz="1600">
                <a:solidFill>
                  <a:srgbClr val="11284C"/>
                </a:solidFill>
                <a:latin typeface="Aptos"/>
              </a:rPr>
              <a:t>Today's roadmap</a:t>
            </a:r>
          </a:p>
          <a:p>
            <a:pPr>
              <a:defRPr sz="1400">
                <a:solidFill>
                  <a:srgbClr val="222222"/>
                </a:solidFill>
                <a:latin typeface="Aptos"/>
              </a:defRPr>
            </a:pPr>
            <a:r>
              <a:t>1) Compare advanced and baseline models</a:t>
            </a:r>
            <a:br/>
            <a:r>
              <a:t>2) Explain why the best model wins</a:t>
            </a:r>
            <a:br/>
            <a:r>
              <a:t>3) Interpret player archetypes and practical meaning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12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Aptos"/>
              </a:rPr>
              <a:t>From Baseline Models to Advanced Models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49808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46464"/>
                </a:solidFill>
                <a:latin typeface="Aptos"/>
              </a:defRPr>
            </a:pPr>
            <a:r>
              <a:t>Why move beyond Presentation 2?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473952"/>
            <a:ext cx="112471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6464"/>
                </a:solidFill>
                <a:latin typeface="Aptos"/>
              </a:defRPr>
            </a:pPr>
            <a:r>
              <a:t>Victor Um | MATH 494 | NBA player performance modeling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5577840" cy="4206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  <a:latin typeface="Aptos"/>
              </a:defRPr>
            </a:pPr>
            <a:r>
              <a:t>Presentation 2 showed that next-season PTS is fairly predictable with linear models.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  <a:latin typeface="Aptos"/>
              </a:defRPr>
            </a:pPr>
            <a:r>
              <a:t>But the diagnostics also suggested nonlinear structure, overlapping predictors, and some heteroskedasticity.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  <a:latin typeface="Aptos"/>
              </a:defRPr>
            </a:pPr>
            <a:r>
              <a:t>That motivates models that can learn interactions and nonlinear patterns automatically.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  <a:latin typeface="Aptos"/>
              </a:defRPr>
            </a:pPr>
            <a:r>
              <a:t>In this final stage, I compare baseline linear models to Random Forest and Gradient Boosting.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417320"/>
            <a:ext cx="4937760" cy="1828800"/>
          </a:xfrm>
          <a:prstGeom prst="roundRect">
            <a:avLst/>
          </a:prstGeom>
          <a:solidFill>
            <a:srgbClr val="E5EFF9"/>
          </a:solidFill>
          <a:ln>
            <a:solidFill>
              <a:srgbClr val="2962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b="1" sz="1600">
                <a:solidFill>
                  <a:srgbClr val="11284C"/>
                </a:solidFill>
                <a:latin typeface="Aptos"/>
              </a:rPr>
              <a:t>What I want to know</a:t>
            </a:r>
          </a:p>
          <a:p>
            <a:pPr>
              <a:defRPr sz="1400">
                <a:solidFill>
                  <a:srgbClr val="222222"/>
                </a:solidFill>
                <a:latin typeface="Aptos"/>
              </a:defRPr>
            </a:pPr>
            <a:r>
              <a:t>Does a more flexible model improve prediction enough to justify losing some interpretability?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3566160"/>
            <a:ext cx="4937760" cy="1828800"/>
          </a:xfrm>
          <a:prstGeom prst="roundRect">
            <a:avLst/>
          </a:prstGeom>
          <a:solidFill>
            <a:srgbClr val="E5EFF9"/>
          </a:solidFill>
          <a:ln>
            <a:solidFill>
              <a:srgbClr val="2962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b="1" sz="1600">
                <a:solidFill>
                  <a:srgbClr val="11284C"/>
                </a:solidFill>
                <a:latin typeface="Aptos"/>
              </a:rPr>
              <a:t>Main target</a:t>
            </a:r>
          </a:p>
          <a:p>
            <a:pPr>
              <a:defRPr sz="1400">
                <a:solidFill>
                  <a:srgbClr val="222222"/>
                </a:solidFill>
                <a:latin typeface="Aptos"/>
              </a:defRPr>
            </a:pPr>
            <a:r>
              <a:t>Next-season points per game (next_pts). I also built saved models for next REB, AST, and TS% for the terminal prediction tool.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12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Aptos"/>
              </a:rPr>
              <a:t>Advanced Models Chosen and Why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49808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46464"/>
                </a:solidFill>
                <a:latin typeface="Aptos"/>
              </a:defRPr>
            </a:pPr>
            <a:r>
              <a:t>Performance versus interpretability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473952"/>
            <a:ext cx="112471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6464"/>
                </a:solidFill>
                <a:latin typeface="Aptos"/>
              </a:defRPr>
            </a:pPr>
            <a:r>
              <a:t>Victor Um | MATH 494 | NBA player performance modeling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280160"/>
            <a:ext cx="3566160" cy="2468880"/>
          </a:xfrm>
          <a:prstGeom prst="roundRect">
            <a:avLst/>
          </a:prstGeom>
          <a:solidFill>
            <a:srgbClr val="E5EFF9"/>
          </a:solidFill>
          <a:ln>
            <a:solidFill>
              <a:srgbClr val="2962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b="1" sz="1600">
                <a:solidFill>
                  <a:srgbClr val="11284C"/>
                </a:solidFill>
                <a:latin typeface="Aptos"/>
              </a:rPr>
              <a:t>Gradient Boosting</a:t>
            </a:r>
          </a:p>
          <a:p>
            <a:pPr>
              <a:defRPr sz="1400">
                <a:solidFill>
                  <a:srgbClr val="222222"/>
                </a:solidFill>
                <a:latin typeface="Aptos"/>
              </a:defRPr>
            </a:pPr>
            <a:r>
              <a:t>Builds many shallow trees sequentially, each one correcting previous errors.</a:t>
            </a:r>
            <a:br/>
            <a:br/>
            <a:r>
              <a:t>Strength: often strong predictive accuracy.</a:t>
            </a:r>
            <a:br/>
            <a:r>
              <a:t>Trade-off: harder to interpret than linear models.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280160"/>
            <a:ext cx="3566160" cy="2468880"/>
          </a:xfrm>
          <a:prstGeom prst="roundRect">
            <a:avLst/>
          </a:prstGeom>
          <a:solidFill>
            <a:srgbClr val="E5EFF9"/>
          </a:solidFill>
          <a:ln>
            <a:solidFill>
              <a:srgbClr val="2962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b="1" sz="1600">
                <a:solidFill>
                  <a:srgbClr val="11284C"/>
                </a:solidFill>
                <a:latin typeface="Aptos"/>
              </a:rPr>
              <a:t>Random Forest</a:t>
            </a:r>
          </a:p>
          <a:p>
            <a:pPr>
              <a:defRPr sz="1400">
                <a:solidFill>
                  <a:srgbClr val="222222"/>
                </a:solidFill>
                <a:latin typeface="Aptos"/>
              </a:defRPr>
            </a:pPr>
            <a:r>
              <a:t>Averages many decision trees built on random subsets of features and rows.</a:t>
            </a:r>
            <a:br/>
            <a:br/>
            <a:r>
              <a:t>Strength: handles nonlinearities and interactions.</a:t>
            </a:r>
            <a:br/>
            <a:r>
              <a:t>Trade-off: can overfit less than a single tree, but still loses transparency.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1280160"/>
            <a:ext cx="3566160" cy="2468880"/>
          </a:xfrm>
          <a:prstGeom prst="roundRect">
            <a:avLst/>
          </a:prstGeom>
          <a:solidFill>
            <a:srgbClr val="E5EFF9"/>
          </a:solidFill>
          <a:ln>
            <a:solidFill>
              <a:srgbClr val="2962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b="1" sz="1600">
                <a:solidFill>
                  <a:srgbClr val="11284C"/>
                </a:solidFill>
                <a:latin typeface="Aptos"/>
              </a:rPr>
              <a:t>LASSO benchmark</a:t>
            </a:r>
          </a:p>
          <a:p>
            <a:pPr>
              <a:defRPr sz="1400">
                <a:solidFill>
                  <a:srgbClr val="222222"/>
                </a:solidFill>
                <a:latin typeface="Aptos"/>
              </a:defRPr>
            </a:pPr>
            <a:r>
              <a:t>My best linear benchmark. It shrinks weaker coefficients toward zero.</a:t>
            </a:r>
            <a:br/>
            <a:br/>
            <a:r>
              <a:t>Strength: interpretable and stable with correlated predictors.</a:t>
            </a:r>
            <a:br/>
            <a:r>
              <a:t>Trade-off: can miss nonlinear patterns.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160520"/>
            <a:ext cx="10789920" cy="1554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2200">
                <a:solidFill>
                  <a:srgbClr val="222222"/>
                </a:solidFill>
                <a:latin typeface="Aptos"/>
              </a:defRPr>
            </a:pPr>
            <a:r>
              <a:t>For this final comparison, I keep one strong linear benchmark and compare it to two tree-based advanced models.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12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Aptos"/>
              </a:rPr>
              <a:t>Side-by-Side Model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49808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46464"/>
                </a:solidFill>
                <a:latin typeface="Aptos"/>
              </a:defRPr>
            </a:pPr>
            <a:r>
              <a:t>All models predict next-season 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473952"/>
            <a:ext cx="112471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6464"/>
                </a:solidFill>
                <a:latin typeface="Aptos"/>
              </a:defRPr>
            </a:pPr>
            <a:r>
              <a:t>Victor Um | MATH 494 | NBA player performance modeling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234440"/>
          <a:ext cx="690372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960120"/>
                <a:gridCol w="914400"/>
                <a:gridCol w="960120"/>
                <a:gridCol w="914400"/>
                <a:gridCol w="1051560"/>
              </a:tblGrid>
              <a:tr h="594360"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  <a:latin typeface="Aptos"/>
                        </a:rPr>
                        <a:t>Model</a:t>
                      </a:r>
                    </a:p>
                  </a:txBody>
                  <a:tcPr>
                    <a:solidFill>
                      <a:srgbClr val="1128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  <a:latin typeface="Aptos"/>
                        </a:rPr>
                        <a:t>Test RMSE</a:t>
                      </a:r>
                    </a:p>
                  </a:txBody>
                  <a:tcPr>
                    <a:solidFill>
                      <a:srgbClr val="1128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  <a:latin typeface="Aptos"/>
                        </a:rPr>
                        <a:t>Test R²</a:t>
                      </a:r>
                    </a:p>
                  </a:txBody>
                  <a:tcPr>
                    <a:solidFill>
                      <a:srgbClr val="1128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  <a:latin typeface="Aptos"/>
                        </a:rPr>
                        <a:t>CV RMSE</a:t>
                      </a:r>
                    </a:p>
                  </a:txBody>
                  <a:tcPr>
                    <a:solidFill>
                      <a:srgbClr val="1128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  <a:latin typeface="Aptos"/>
                        </a:rPr>
                        <a:t>CV R²</a:t>
                      </a:r>
                    </a:p>
                  </a:txBody>
                  <a:tcPr>
                    <a:solidFill>
                      <a:srgbClr val="1128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  <a:latin typeface="Aptos"/>
                        </a:rPr>
                        <a:t>Overfit Gap</a:t>
                      </a:r>
                    </a:p>
                  </a:txBody>
                  <a:tcPr>
                    <a:solidFill>
                      <a:srgbClr val="11284C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222"/>
                          </a:solidFill>
                          <a:latin typeface="Aptos"/>
                        </a:rPr>
                        <a:t>Gradient Boosting</a:t>
                      </a:r>
                    </a:p>
                  </a:txBody>
                  <a:tcPr>
                    <a:solidFill>
                      <a:srgbClr val="DDF2D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Aptos"/>
                        </a:rPr>
                        <a:t>2.852</a:t>
                      </a:r>
                    </a:p>
                  </a:txBody>
                  <a:tcPr>
                    <a:solidFill>
                      <a:srgbClr val="DDF2D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Aptos"/>
                        </a:rPr>
                        <a:t>0.780</a:t>
                      </a:r>
                    </a:p>
                  </a:txBody>
                  <a:tcPr>
                    <a:solidFill>
                      <a:srgbClr val="DDF2D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Aptos"/>
                        </a:rPr>
                        <a:t>2.825</a:t>
                      </a:r>
                    </a:p>
                  </a:txBody>
                  <a:tcPr>
                    <a:solidFill>
                      <a:srgbClr val="DDF2D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Aptos"/>
                        </a:rPr>
                        <a:t>0.784</a:t>
                      </a:r>
                    </a:p>
                  </a:txBody>
                  <a:tcPr>
                    <a:solidFill>
                      <a:srgbClr val="DDF2D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Aptos"/>
                        </a:rPr>
                        <a:t>0.199</a:t>
                      </a:r>
                    </a:p>
                  </a:txBody>
                  <a:tcPr>
                    <a:solidFill>
                      <a:srgbClr val="DDF2D8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222"/>
                          </a:solidFill>
                          <a:latin typeface="Aptos"/>
                        </a:rPr>
                        <a:t>LASSO Regression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Aptos"/>
                        </a:rPr>
                        <a:t>2.884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Aptos"/>
                        </a:rPr>
                        <a:t>0.775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Aptos"/>
                        </a:rPr>
                        <a:t>2.864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Aptos"/>
                        </a:rPr>
                        <a:t>0.778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Aptos"/>
                        </a:rPr>
                        <a:t>0.034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222"/>
                          </a:solidFill>
                          <a:latin typeface="Aptos"/>
                        </a:rPr>
                        <a:t>Ridge Regression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Aptos"/>
                        </a:rPr>
                        <a:t>2.895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Aptos"/>
                        </a:rPr>
                        <a:t>0.773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Aptos"/>
                        </a:rPr>
                        <a:t>2.878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Aptos"/>
                        </a:rPr>
                        <a:t>0.775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Aptos"/>
                        </a:rPr>
                        <a:t>0.078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222"/>
                          </a:solidFill>
                          <a:latin typeface="Aptos"/>
                        </a:rPr>
                        <a:t>Linear Regression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Aptos"/>
                        </a:rPr>
                        <a:t>2.969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Aptos"/>
                        </a:rPr>
                        <a:t>0.761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Aptos"/>
                        </a:rPr>
                        <a:t>2.952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Aptos"/>
                        </a:rPr>
                        <a:t>0.764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Aptos"/>
                        </a:rPr>
                        <a:t>0.214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222"/>
                          </a:solidFill>
                          <a:latin typeface="Aptos"/>
                        </a:rPr>
                        <a:t>Random Forest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Aptos"/>
                        </a:rPr>
                        <a:t>3.206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Aptos"/>
                        </a:rPr>
                        <a:t>0.722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Aptos"/>
                        </a:rPr>
                        <a:t>3.180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Aptos"/>
                        </a:rPr>
                        <a:t>0.726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Aptos"/>
                        </a:rPr>
                        <a:t>0.427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458200" y="1417320"/>
            <a:ext cx="3154680" cy="2926080"/>
          </a:xfrm>
          <a:prstGeom prst="roundRect">
            <a:avLst/>
          </a:prstGeom>
          <a:solidFill>
            <a:srgbClr val="E5EFF9"/>
          </a:solidFill>
          <a:ln>
            <a:solidFill>
              <a:srgbClr val="2962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b="1" sz="1600">
                <a:solidFill>
                  <a:srgbClr val="11284C"/>
                </a:solidFill>
                <a:latin typeface="Aptos"/>
              </a:rPr>
              <a:t>Headline result</a:t>
            </a:r>
          </a:p>
          <a:p>
            <a:pPr>
              <a:defRPr sz="1400">
                <a:solidFill>
                  <a:srgbClr val="222222"/>
                </a:solidFill>
                <a:latin typeface="Aptos"/>
              </a:defRPr>
            </a:pPr>
            <a:r>
              <a:t>Best overall model: Gradient Boosting</a:t>
            </a:r>
            <a:br/>
            <a:br/>
            <a:r>
              <a:t>Test RMSE = 2.852</a:t>
            </a:r>
            <a:br/>
            <a:r>
              <a:t>Test R² = 0.780</a:t>
            </a:r>
            <a:br/>
            <a:br/>
            <a:r>
              <a:t>Best linear model: LASSO</a:t>
            </a:r>
            <a:br/>
            <a:r>
              <a:t>Random Forest was worst and had the largest overfitting gap.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12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Aptos"/>
              </a:rPr>
              <a:t>Test-Set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49808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46464"/>
                </a:solidFill>
                <a:latin typeface="Aptos"/>
              </a:defRPr>
            </a:pPr>
            <a:r>
              <a:t>How the models compare on the holdout 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473952"/>
            <a:ext cx="112471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6464"/>
                </a:solidFill>
                <a:latin typeface="Aptos"/>
              </a:defRPr>
            </a:pPr>
            <a:r>
              <a:t>Victor Um | MATH 494 | NBA player performance modeling</a:t>
            </a:r>
          </a:p>
        </p:txBody>
      </p:sp>
      <p:pic>
        <p:nvPicPr>
          <p:cNvPr id="6" name="Picture 5" descr="test_rmse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34440"/>
            <a:ext cx="5532120" cy="3317111"/>
          </a:xfrm>
          <a:prstGeom prst="rect">
            <a:avLst/>
          </a:prstGeom>
        </p:spPr>
      </p:pic>
      <p:pic>
        <p:nvPicPr>
          <p:cNvPr id="7" name="Picture 6" descr="test_r2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234440"/>
            <a:ext cx="5532120" cy="3317111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2743200" y="5230368"/>
            <a:ext cx="6583680" cy="822960"/>
          </a:xfrm>
          <a:prstGeom prst="roundRect">
            <a:avLst/>
          </a:prstGeom>
          <a:solidFill>
            <a:srgbClr val="E5EFF9"/>
          </a:solidFill>
          <a:ln>
            <a:solidFill>
              <a:srgbClr val="2962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b="1" sz="1600">
                <a:solidFill>
                  <a:srgbClr val="11284C"/>
                </a:solidFill>
                <a:latin typeface="Aptos"/>
              </a:rPr>
              <a:t>Interpretation</a:t>
            </a:r>
          </a:p>
          <a:p>
            <a:pPr>
              <a:defRPr sz="1400">
                <a:solidFill>
                  <a:srgbClr val="222222"/>
                </a:solidFill>
                <a:latin typeface="Aptos"/>
              </a:defRPr>
            </a:pPr>
            <a:r>
              <a:t>Gradient Boosting is best on both test RMSE and test R², but the margin over LASSO and Ridge is not huge.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12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Aptos"/>
              </a:rPr>
              <a:t>Cross-Validation: Does the Improvement Generalize?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49808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46464"/>
                </a:solidFill>
                <a:latin typeface="Aptos"/>
              </a:defRPr>
            </a:pPr>
            <a:r>
              <a:t>A stronger check than a single train/test split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473952"/>
            <a:ext cx="112471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6464"/>
                </a:solidFill>
                <a:latin typeface="Aptos"/>
              </a:defRPr>
            </a:pPr>
            <a:r>
              <a:t>Victor Um | MATH 494 | NBA player performance modeling</a:t>
            </a:r>
          </a:p>
        </p:txBody>
      </p:sp>
      <p:pic>
        <p:nvPicPr>
          <p:cNvPr id="6" name="Picture 5" descr="cv_rmse_comparison_f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34440"/>
            <a:ext cx="5532120" cy="3317111"/>
          </a:xfrm>
          <a:prstGeom prst="rect">
            <a:avLst/>
          </a:prstGeom>
        </p:spPr>
      </p:pic>
      <p:pic>
        <p:nvPicPr>
          <p:cNvPr id="7" name="Picture 6" descr="cv_r2_comparison_fi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234440"/>
            <a:ext cx="5532120" cy="3317111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2011680" y="5230368"/>
            <a:ext cx="8046720" cy="868680"/>
          </a:xfrm>
          <a:prstGeom prst="roundRect">
            <a:avLst/>
          </a:prstGeom>
          <a:solidFill>
            <a:srgbClr val="E5EFF9"/>
          </a:solidFill>
          <a:ln>
            <a:solidFill>
              <a:srgbClr val="2962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b="1" sz="1600">
                <a:solidFill>
                  <a:srgbClr val="11284C"/>
                </a:solidFill>
                <a:latin typeface="Aptos"/>
              </a:rPr>
              <a:t>Why this matters</a:t>
            </a:r>
          </a:p>
          <a:p>
            <a:pPr>
              <a:defRPr sz="1400">
                <a:solidFill>
                  <a:srgbClr val="222222"/>
                </a:solidFill>
                <a:latin typeface="Aptos"/>
              </a:defRPr>
            </a:pPr>
            <a:r>
              <a:t>Gradient Boosting improves average CV RMSE over plain linear regression by 0.127 points per game and improves CV R² by 0.020.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12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Aptos"/>
              </a:rPr>
              <a:t>Overfitting Discussion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49808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46464"/>
                </a:solidFill>
                <a:latin typeface="Aptos"/>
              </a:defRPr>
            </a:pPr>
            <a:r>
              <a:t>Better accuracy is only useful if the model still generalizes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473952"/>
            <a:ext cx="112471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6464"/>
                </a:solidFill>
                <a:latin typeface="Aptos"/>
              </a:defRPr>
            </a:pPr>
            <a:r>
              <a:t>Victor Um | MATH 494 | NBA player performance modeling</a:t>
            </a:r>
          </a:p>
        </p:txBody>
      </p:sp>
      <p:pic>
        <p:nvPicPr>
          <p:cNvPr id="6" name="Picture 5" descr="overfit_gap_rm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325880"/>
            <a:ext cx="6492240" cy="38928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52360" y="1463040"/>
            <a:ext cx="3931920" cy="34747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  <a:latin typeface="Aptos"/>
              </a:defRPr>
            </a:pPr>
            <a:r>
              <a:t>LASSO has the smallest RMSE gap (0.034), so it is the most stable.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  <a:latin typeface="Aptos"/>
              </a:defRPr>
            </a:pPr>
            <a:r>
              <a:t>Gradient Boosting has a moderate gap (0.199), which is acceptable given its best overall accuracy.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  <a:latin typeface="Aptos"/>
              </a:defRPr>
            </a:pPr>
            <a:r>
              <a:t>Random Forest has the largest gap (0.427), so it appears to overfit the most.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  <a:latin typeface="Aptos"/>
              </a:defRPr>
            </a:pPr>
            <a:r>
              <a:t>This is why model selection should balance accuracy with robustness.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12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Aptos"/>
              </a:rPr>
              <a:t>Visual Fit: Best Linear Model vs Best Advanced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49808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46464"/>
                </a:solidFill>
                <a:latin typeface="Aptos"/>
              </a:defRPr>
            </a:pPr>
            <a:r>
              <a:t>LASSO versus Gradient Boosting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473952"/>
            <a:ext cx="112471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6464"/>
                </a:solidFill>
                <a:latin typeface="Aptos"/>
              </a:defRPr>
            </a:pPr>
            <a:r>
              <a:t>Victor Um | MATH 494 | NBA player performance modeling</a:t>
            </a:r>
          </a:p>
        </p:txBody>
      </p:sp>
      <p:pic>
        <p:nvPicPr>
          <p:cNvPr id="6" name="Picture 5" descr="best_linear_predicted_vs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188720"/>
            <a:ext cx="5577840" cy="4183380"/>
          </a:xfrm>
          <a:prstGeom prst="rect">
            <a:avLst/>
          </a:prstGeom>
        </p:spPr>
      </p:pic>
      <p:pic>
        <p:nvPicPr>
          <p:cNvPr id="7" name="Picture 6" descr="best_advanced_predicted_vs_actu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188720"/>
            <a:ext cx="5577840" cy="41833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2011680" y="5257800"/>
            <a:ext cx="8046720" cy="822960"/>
          </a:xfrm>
          <a:prstGeom prst="roundRect">
            <a:avLst/>
          </a:prstGeom>
          <a:solidFill>
            <a:srgbClr val="E5EFF9"/>
          </a:solidFill>
          <a:ln>
            <a:solidFill>
              <a:srgbClr val="2962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b="1" sz="1600">
                <a:solidFill>
                  <a:srgbClr val="11284C"/>
                </a:solidFill>
                <a:latin typeface="Aptos"/>
              </a:rPr>
              <a:t>Takeaway</a:t>
            </a:r>
          </a:p>
          <a:p>
            <a:pPr>
              <a:defRPr sz="1400">
                <a:solidFill>
                  <a:srgbClr val="222222"/>
                </a:solidFill>
                <a:latin typeface="Aptos"/>
              </a:defRPr>
            </a:pPr>
            <a:r>
              <a:t>Both models track the diagonal well, but Gradient Boosting is slightly tighter overall, especially in the middle-to-upper scoring range.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12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Aptos"/>
              </a:rPr>
              <a:t>Explainability 1: Best Linear Model Coefficients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49808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46464"/>
                </a:solidFill>
                <a:latin typeface="Aptos"/>
              </a:defRPr>
            </a:pPr>
            <a:r>
              <a:t>LASSO gives the clearest coefficient-based interpretation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473952"/>
            <a:ext cx="112471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6464"/>
                </a:solidFill>
                <a:latin typeface="Aptos"/>
              </a:defRPr>
            </a:pPr>
            <a:r>
              <a:t>Victor Um | MATH 494 | NBA player performance modeling</a:t>
            </a:r>
          </a:p>
        </p:txBody>
      </p:sp>
      <p:pic>
        <p:nvPicPr>
          <p:cNvPr id="6" name="Picture 5" descr="best_linear_coeffici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51560"/>
            <a:ext cx="7406640" cy="592386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01000" y="1325880"/>
            <a:ext cx="3749039" cy="42976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  <a:latin typeface="Aptos"/>
              </a:defRPr>
            </a:pPr>
            <a:r>
              <a:t>Current PTS is the strongest positive signal.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  <a:latin typeface="Aptos"/>
              </a:defRPr>
            </a:pPr>
            <a:r>
              <a:t>Age is the largest negative coefficient.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  <a:latin typeface="Aptos"/>
              </a:defRPr>
            </a:pPr>
            <a:r>
              <a:t>Lagged PTS and net rating also matter.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  <a:latin typeface="Aptos"/>
              </a:defRPr>
            </a:pPr>
            <a:r>
              <a:t>Because numeric predictors were standardized, these coefficients show relative influence, not raw one-unit effects.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12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Aptos"/>
              </a:rPr>
              <a:t>Explainability 2: Permutation Importance for Gradient Boosting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49808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46464"/>
                </a:solidFill>
                <a:latin typeface="Aptos"/>
              </a:defRPr>
            </a:pPr>
            <a:r>
              <a:t>What hurts performance the most when shuffled?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473952"/>
            <a:ext cx="112471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6464"/>
                </a:solidFill>
                <a:latin typeface="Aptos"/>
              </a:defRPr>
            </a:pPr>
            <a:r>
              <a:t>Victor Um | MATH 494 | NBA player performance modeling</a:t>
            </a:r>
          </a:p>
        </p:txBody>
      </p:sp>
      <p:pic>
        <p:nvPicPr>
          <p:cNvPr id="6" name="Picture 5" descr="best_advanced_permutation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051560"/>
            <a:ext cx="7589520" cy="607013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83879" y="1325880"/>
            <a:ext cx="3383280" cy="43891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  <a:latin typeface="Aptos"/>
              </a:defRPr>
            </a:pPr>
            <a:r>
              <a:t>Current PTS dominates the importance ranking.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  <a:latin typeface="Aptos"/>
              </a:defRPr>
            </a:pPr>
            <a:r>
              <a:t>Age is a clear second-tier feature.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  <a:latin typeface="Aptos"/>
              </a:defRPr>
            </a:pPr>
            <a:r>
              <a:t>PTS_lag1 and net_rating contribute, but much less.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  <a:latin typeface="Aptos"/>
              </a:defRPr>
            </a:pPr>
            <a:r>
              <a:t>Importance concentrates in a few variables because many basketball features overlap.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12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Aptos"/>
              </a:rPr>
              <a:t>Partial Dependence: How Key Features Change the Prediction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49808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46464"/>
                </a:solidFill>
                <a:latin typeface="Aptos"/>
              </a:defRPr>
            </a:pPr>
            <a:r>
              <a:t>Holding the rest of the feature distribution fixed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473952"/>
            <a:ext cx="112471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6464"/>
                </a:solidFill>
                <a:latin typeface="Aptos"/>
              </a:defRPr>
            </a:pPr>
            <a:r>
              <a:t>Victor Um | MATH 494 | NBA player performance modeling</a:t>
            </a:r>
          </a:p>
        </p:txBody>
      </p:sp>
      <p:pic>
        <p:nvPicPr>
          <p:cNvPr id="6" name="Picture 5" descr="pdp_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43000"/>
            <a:ext cx="5486400" cy="4114800"/>
          </a:xfrm>
          <a:prstGeom prst="rect">
            <a:avLst/>
          </a:prstGeom>
        </p:spPr>
      </p:pic>
      <p:pic>
        <p:nvPicPr>
          <p:cNvPr id="7" name="Picture 6" descr="pdp_p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143000"/>
            <a:ext cx="5486400" cy="41148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1097280" y="5349240"/>
            <a:ext cx="9966960" cy="777240"/>
          </a:xfrm>
          <a:prstGeom prst="roundRect">
            <a:avLst/>
          </a:prstGeom>
          <a:solidFill>
            <a:srgbClr val="E5EFF9"/>
          </a:solidFill>
          <a:ln>
            <a:solidFill>
              <a:srgbClr val="2962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b="1" sz="1600">
                <a:solidFill>
                  <a:srgbClr val="11284C"/>
                </a:solidFill>
                <a:latin typeface="Aptos"/>
              </a:rPr>
              <a:t>Interpretation</a:t>
            </a:r>
          </a:p>
          <a:p>
            <a:pPr>
              <a:defRPr sz="1400">
                <a:solidFill>
                  <a:srgbClr val="222222"/>
                </a:solidFill>
                <a:latin typeface="Aptos"/>
              </a:defRPr>
            </a:pPr>
            <a:r>
              <a:t>As age increases, predicted next-season scoring falls. As current PTS rises, predicted next-season PTS rises strongly and almost monotonically.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12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Aptos"/>
              </a:rPr>
              <a:t>Player Archetypes from Clustering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49808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46464"/>
                </a:solidFill>
                <a:latin typeface="Aptos"/>
              </a:defRPr>
            </a:pPr>
            <a:r>
              <a:t>KMeans on player-level averages, then PCA for visualization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473952"/>
            <a:ext cx="112471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6464"/>
                </a:solidFill>
                <a:latin typeface="Aptos"/>
              </a:defRPr>
            </a:pPr>
            <a:r>
              <a:t>Victor Um | MATH 494 | NBA player performance modeling</a:t>
            </a:r>
          </a:p>
        </p:txBody>
      </p:sp>
      <p:pic>
        <p:nvPicPr>
          <p:cNvPr id="6" name="Picture 5" descr="player_archetypes_p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51560"/>
            <a:ext cx="7086600" cy="550872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26679" y="1325880"/>
            <a:ext cx="3840480" cy="43891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22222"/>
                </a:solidFill>
                <a:latin typeface="Aptos"/>
              </a:defRPr>
            </a:pPr>
            <a:r>
              <a:t>Cluster 0: fringe or low-production bench players</a:t>
            </a:r>
          </a:p>
          <a:p>
            <a:pPr>
              <a:spcAft>
                <a:spcPts val="800"/>
              </a:spcAft>
              <a:defRPr sz="1600">
                <a:solidFill>
                  <a:srgbClr val="222222"/>
                </a:solidFill>
                <a:latin typeface="Aptos"/>
              </a:defRPr>
            </a:pPr>
            <a:r>
              <a:t>Cluster 1: stable role-player veterans</a:t>
            </a:r>
          </a:p>
          <a:p>
            <a:pPr>
              <a:spcAft>
                <a:spcPts val="800"/>
              </a:spcAft>
              <a:defRPr sz="1600">
                <a:solidFill>
                  <a:srgbClr val="222222"/>
                </a:solidFill>
                <a:latin typeface="Aptos"/>
              </a:defRPr>
            </a:pPr>
            <a:r>
              <a:t>Cluster 2: primary scorers and star-level players</a:t>
            </a:r>
          </a:p>
          <a:p>
            <a:pPr>
              <a:spcAft>
                <a:spcPts val="800"/>
              </a:spcAft>
              <a:defRPr sz="1600">
                <a:solidFill>
                  <a:srgbClr val="222222"/>
                </a:solidFill>
                <a:latin typeface="Aptos"/>
              </a:defRPr>
            </a:pPr>
            <a:r>
              <a:t>Cluster 3: guards and secondary creators</a:t>
            </a:r>
          </a:p>
          <a:p>
            <a:pPr>
              <a:spcAft>
                <a:spcPts val="800"/>
              </a:spcAft>
              <a:defRPr sz="1600">
                <a:solidFill>
                  <a:srgbClr val="222222"/>
                </a:solidFill>
                <a:latin typeface="Aptos"/>
              </a:defRPr>
            </a:pPr>
            <a:r>
              <a:t>Note: silhouette was highest at k=2 (0.250), but I used k=4 (0.206) because it produced more interpretable basketball roles.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12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Aptos"/>
              </a:rPr>
              <a:t>Aging Curves by Archetype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49808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46464"/>
                </a:solidFill>
                <a:latin typeface="Aptos"/>
              </a:defRPr>
            </a:pPr>
            <a:r>
              <a:t>Different player types age differently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473952"/>
            <a:ext cx="112471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6464"/>
                </a:solidFill>
                <a:latin typeface="Aptos"/>
              </a:defRPr>
            </a:pPr>
            <a:r>
              <a:t>Victor Um | MATH 494 | NBA player performance modeling</a:t>
            </a:r>
          </a:p>
        </p:txBody>
      </p:sp>
      <p:pic>
        <p:nvPicPr>
          <p:cNvPr id="6" name="Picture 5" descr="player_archetype_age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97280"/>
            <a:ext cx="7223760" cy="433143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26679" y="1234440"/>
            <a:ext cx="388620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11284C"/>
                </a:solidFill>
                <a:latin typeface="Aptos"/>
              </a:defRPr>
            </a:pPr>
            <a:r>
              <a:t>Cluster 2: Primary scorers / star-level players</a:t>
            </a:r>
          </a:p>
          <a:p>
            <a:pPr>
              <a:spcAft>
                <a:spcPts val="200"/>
              </a:spcAft>
              <a:defRPr sz="1100" b="0">
                <a:solidFill>
                  <a:srgbClr val="222222"/>
                </a:solidFill>
                <a:latin typeface="Aptos"/>
              </a:defRPr>
            </a:pPr>
            <a:r>
              <a:t>Highest-usage, strongest all-around scorers; about 15.3 PPG, 5.6 rebounds, and 3.3 assists. Examples include LeBron James, Dirk Nowitzki, and Kobe Bryant.</a:t>
            </a:r>
          </a:p>
          <a:p>
            <a:pPr>
              <a:spcAft>
                <a:spcPts val="200"/>
              </a:spcAft>
              <a:defRPr sz="1300" b="1">
                <a:solidFill>
                  <a:srgbClr val="11284C"/>
                </a:solidFill>
                <a:latin typeface="Aptos"/>
              </a:defRPr>
            </a:pPr>
            <a:r>
              <a:t>Cluster 3: Guards and secondary creators</a:t>
            </a:r>
          </a:p>
          <a:p>
            <a:pPr>
              <a:spcAft>
                <a:spcPts val="200"/>
              </a:spcAft>
              <a:defRPr sz="1100" b="0">
                <a:solidFill>
                  <a:srgbClr val="222222"/>
                </a:solidFill>
                <a:latin typeface="Aptos"/>
              </a:defRPr>
            </a:pPr>
            <a:r>
              <a:t>Smaller guards and secondary creators; about 6.2 PPG and 2.0 assists. Examples include Jason Terry, Lou Williams, and D.J. Augustin.</a:t>
            </a:r>
          </a:p>
          <a:p>
            <a:pPr>
              <a:spcAft>
                <a:spcPts val="200"/>
              </a:spcAft>
              <a:defRPr sz="1300" b="1">
                <a:solidFill>
                  <a:srgbClr val="11284C"/>
                </a:solidFill>
                <a:latin typeface="Aptos"/>
              </a:defRPr>
            </a:pPr>
            <a:r>
              <a:t>Cluster 1: Stable role-player veterans (bigs/wings)</a:t>
            </a:r>
          </a:p>
          <a:p>
            <a:pPr>
              <a:spcAft>
                <a:spcPts val="200"/>
              </a:spcAft>
              <a:defRPr sz="1100" b="0">
                <a:solidFill>
                  <a:srgbClr val="222222"/>
                </a:solidFill>
                <a:latin typeface="Aptos"/>
              </a:defRPr>
            </a:pPr>
            <a:r>
              <a:t>Moderate-scoring, larger role players; about 5.4 PPG and 3.4 rebounds. Examples include Tyson Chandler, Trevor Ariza, and Kyle Korver.</a:t>
            </a:r>
          </a:p>
          <a:p>
            <a:pPr>
              <a:spcAft>
                <a:spcPts val="200"/>
              </a:spcAft>
              <a:defRPr sz="1300" b="1">
                <a:solidFill>
                  <a:srgbClr val="11284C"/>
                </a:solidFill>
                <a:latin typeface="Aptos"/>
              </a:defRPr>
            </a:pPr>
            <a:r>
              <a:t>Cluster 0: Fringe / low-production bench players</a:t>
            </a:r>
          </a:p>
          <a:p>
            <a:pPr>
              <a:spcAft>
                <a:spcPts val="200"/>
              </a:spcAft>
              <a:defRPr sz="1100" b="0">
                <a:solidFill>
                  <a:srgbClr val="222222"/>
                </a:solidFill>
                <a:latin typeface="Aptos"/>
              </a:defRPr>
            </a:pPr>
            <a:r>
              <a:t>Lowest scoring group; around 2.6 PPG with negative net rating. Examples include Michael Ruffin and Dominic McGuire.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12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Aptos"/>
              </a:rPr>
              <a:t>Practical Output: Terminal Prediction Tool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49808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46464"/>
                </a:solidFill>
                <a:latin typeface="Aptos"/>
              </a:defRPr>
            </a:pPr>
            <a:r>
              <a:t>From analysis to a usable mini-application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473952"/>
            <a:ext cx="112471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6464"/>
                </a:solidFill>
                <a:latin typeface="Aptos"/>
              </a:defRPr>
            </a:pPr>
            <a:r>
              <a:t>Victor Um | MATH 494 | NBA player performance modeling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25880"/>
            <a:ext cx="5120640" cy="3657600"/>
          </a:xfrm>
          <a:prstGeom prst="roundRect">
            <a:avLst/>
          </a:prstGeom>
          <a:solidFill>
            <a:srgbClr val="E5EFF9"/>
          </a:solidFill>
          <a:ln>
            <a:solidFill>
              <a:srgbClr val="2962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b="1" sz="1600">
                <a:solidFill>
                  <a:srgbClr val="11284C"/>
                </a:solidFill>
                <a:latin typeface="Aptos"/>
              </a:rPr>
              <a:t>What the tool does</a:t>
            </a:r>
          </a:p>
          <a:p>
            <a:pPr>
              <a:defRPr sz="1400">
                <a:solidFill>
                  <a:srgbClr val="222222"/>
                </a:solidFill>
                <a:latin typeface="Aptos"/>
              </a:defRPr>
            </a:pPr>
            <a:r>
              <a:t>After the final models are trained, the saved bundle lets me type a player name in the terminal and get predicted next-season PTS, REB, AST, and TS%.</a:t>
            </a:r>
            <a:br/>
            <a:br/>
            <a:r>
              <a:t>It uses the player's most recent row in the dataset as the input profile.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234440"/>
            <a:ext cx="5303520" cy="3977639"/>
          </a:xfrm>
          <a:prstGeom prst="roundRect">
            <a:avLst/>
          </a:prstGeom>
          <a:solidFill>
            <a:srgbClr val="1C20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>
                <a:solidFill>
                  <a:srgbClr val="E6E6E6"/>
                </a:solidFill>
                <a:latin typeface="Consolas"/>
              </a:defRPr>
            </a:pPr>
            <a:r>
              <a:t>python predict_next_season.py</a:t>
            </a:r>
          </a:p>
          <a:p>
            <a:pPr>
              <a:defRPr sz="1400">
                <a:solidFill>
                  <a:srgbClr val="E6E6E6"/>
                </a:solidFill>
                <a:latin typeface="Consolas"/>
              </a:defRPr>
            </a:pPr>
          </a:p>
          <a:p>
            <a:pPr>
              <a:defRPr sz="1400">
                <a:solidFill>
                  <a:srgbClr val="E6E6E6"/>
                </a:solidFill>
                <a:latin typeface="Consolas"/>
              </a:defRPr>
            </a:pPr>
            <a:r>
              <a:t>Player name: LeBron James</a:t>
            </a:r>
          </a:p>
          <a:p>
            <a:pPr>
              <a:defRPr sz="1400">
                <a:solidFill>
                  <a:srgbClr val="E6E6E6"/>
                </a:solidFill>
                <a:latin typeface="Consolas"/>
              </a:defRPr>
            </a:pPr>
          </a:p>
          <a:p>
            <a:pPr>
              <a:defRPr sz="1400">
                <a:solidFill>
                  <a:srgbClr val="E6E6E6"/>
                </a:solidFill>
                <a:latin typeface="Consolas"/>
              </a:defRPr>
            </a:pPr>
            <a:r>
              <a:t>Outputs:</a:t>
            </a:r>
          </a:p>
          <a:p>
            <a:pPr>
              <a:defRPr sz="1400">
                <a:solidFill>
                  <a:srgbClr val="E6E6E6"/>
                </a:solidFill>
                <a:latin typeface="Consolas"/>
              </a:defRPr>
            </a:pPr>
            <a:r>
              <a:t>- Predicted next-season PTS</a:t>
            </a:r>
          </a:p>
          <a:p>
            <a:pPr>
              <a:defRPr sz="1400">
                <a:solidFill>
                  <a:srgbClr val="E6E6E6"/>
                </a:solidFill>
                <a:latin typeface="Consolas"/>
              </a:defRPr>
            </a:pPr>
            <a:r>
              <a:t>- Predicted next-season REB</a:t>
            </a:r>
          </a:p>
          <a:p>
            <a:pPr>
              <a:defRPr sz="1400">
                <a:solidFill>
                  <a:srgbClr val="E6E6E6"/>
                </a:solidFill>
                <a:latin typeface="Consolas"/>
              </a:defRPr>
            </a:pPr>
            <a:r>
              <a:t>- Predicted next-season AST</a:t>
            </a:r>
          </a:p>
          <a:p>
            <a:pPr>
              <a:defRPr sz="1400">
                <a:solidFill>
                  <a:srgbClr val="E6E6E6"/>
                </a:solidFill>
                <a:latin typeface="Consolas"/>
              </a:defRPr>
            </a:pPr>
            <a:r>
              <a:t>- Predicted next-season TS%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554480" y="5440680"/>
            <a:ext cx="9235440" cy="640080"/>
          </a:xfrm>
          <a:prstGeom prst="roundRect">
            <a:avLst/>
          </a:prstGeom>
          <a:solidFill>
            <a:srgbClr val="E5EFF9"/>
          </a:solidFill>
          <a:ln>
            <a:solidFill>
              <a:srgbClr val="2962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b="1" sz="1600">
                <a:solidFill>
                  <a:srgbClr val="11284C"/>
                </a:solidFill>
                <a:latin typeface="Aptos"/>
              </a:rPr>
              <a:t>Why include this?</a:t>
            </a:r>
          </a:p>
          <a:p>
            <a:pPr>
              <a:defRPr sz="1400">
                <a:solidFill>
                  <a:srgbClr val="222222"/>
                </a:solidFill>
                <a:latin typeface="Aptos"/>
              </a:defRPr>
            </a:pPr>
            <a:r>
              <a:t>It shows the project can move from a research presentation into a simple, user-facing prediction tool.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12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Aptos"/>
              </a:rPr>
              <a:t>Limitations and Ethics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49808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46464"/>
                </a:solidFill>
                <a:latin typeface="Aptos"/>
              </a:defRPr>
            </a:pPr>
            <a:r>
              <a:t>Why model performance is not the same as truth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473952"/>
            <a:ext cx="112471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6464"/>
                </a:solidFill>
                <a:latin typeface="Aptos"/>
              </a:defRPr>
            </a:pPr>
            <a:r>
              <a:t>Victor Um | MATH 494 | NBA player performance modeling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5303520" cy="44805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  <a:latin typeface="Aptos"/>
              </a:defRPr>
            </a:pPr>
            <a:r>
              <a:t>Survivorship bias: older players in the data are often the ones good enough to stay in the league.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  <a:latin typeface="Aptos"/>
              </a:defRPr>
            </a:pPr>
            <a:r>
              <a:t>Injury gaps: the model does not observe missed development caused by injuries or recovery.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  <a:latin typeface="Aptos"/>
              </a:defRPr>
            </a:pPr>
            <a:r>
              <a:t>Role changes: trades, teammates, and coaching systems can change opportunity quickly.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  <a:latin typeface="Aptos"/>
              </a:defRPr>
            </a:pPr>
            <a:r>
              <a:t>Correlated inputs: even good models can make some features look more or less important than they truly are.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46520" y="1417320"/>
            <a:ext cx="4754880" cy="1920240"/>
          </a:xfrm>
          <a:prstGeom prst="roundRect">
            <a:avLst/>
          </a:prstGeom>
          <a:solidFill>
            <a:srgbClr val="E5EFF9"/>
          </a:solidFill>
          <a:ln>
            <a:solidFill>
              <a:srgbClr val="2962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b="1" sz="1600">
                <a:solidFill>
                  <a:srgbClr val="11284C"/>
                </a:solidFill>
                <a:latin typeface="Aptos"/>
              </a:rPr>
              <a:t>Ethical caution</a:t>
            </a:r>
          </a:p>
          <a:p>
            <a:pPr>
              <a:defRPr sz="1400">
                <a:solidFill>
                  <a:srgbClr val="222222"/>
                </a:solidFill>
                <a:latin typeface="Aptos"/>
              </a:defRPr>
            </a:pPr>
            <a:r>
              <a:t>These models should support decisions, not replace human judgment in contracts, roster moves, or development plans.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46520" y="3749039"/>
            <a:ext cx="4754880" cy="1645920"/>
          </a:xfrm>
          <a:prstGeom prst="roundRect">
            <a:avLst/>
          </a:prstGeom>
          <a:solidFill>
            <a:srgbClr val="E5EFF9"/>
          </a:solidFill>
          <a:ln>
            <a:solidFill>
              <a:srgbClr val="2962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b="1" sz="1600">
                <a:solidFill>
                  <a:srgbClr val="11284C"/>
                </a:solidFill>
                <a:latin typeface="Aptos"/>
              </a:rPr>
              <a:t>Why this matters</a:t>
            </a:r>
          </a:p>
          <a:p>
            <a:pPr>
              <a:defRPr sz="1400">
                <a:solidFill>
                  <a:srgbClr val="222222"/>
                </a:solidFill>
                <a:latin typeface="Aptos"/>
              </a:defRPr>
            </a:pPr>
            <a:r>
              <a:t>A small prediction gain does not automatically justify using a less interpretable model in a high-stakes setting.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12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Aptos"/>
              </a:rPr>
              <a:t>Final 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49808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46464"/>
                </a:solidFill>
                <a:latin typeface="Aptos"/>
              </a:defRPr>
            </a:pPr>
            <a:r>
              <a:t>What this project shows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473952"/>
            <a:ext cx="112471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6464"/>
                </a:solidFill>
                <a:latin typeface="Aptos"/>
              </a:defRPr>
            </a:pPr>
            <a:r>
              <a:t>Victor Um | MATH 494 | NBA player performance modeling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17320"/>
            <a:ext cx="10607040" cy="3840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  <a:latin typeface="Aptos"/>
              </a:defRPr>
            </a:pPr>
            <a:r>
              <a:t>Gradient Boosting was the best overall model for next-season PTS, but the improvement over linear regression was modest (0.127 CV RMSE).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  <a:latin typeface="Aptos"/>
              </a:defRPr>
            </a:pPr>
            <a:r>
              <a:t>LASSO remained a strong benchmark because it was accurate, stable, and much easier to interpret.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  <a:latin typeface="Aptos"/>
              </a:defRPr>
            </a:pPr>
            <a:r>
              <a:t>Current scoring and age are the most consistent drivers across both linear and advanced explanations.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  <a:latin typeface="Aptos"/>
              </a:defRPr>
            </a:pPr>
            <a:r>
              <a:t>Clustering showed that different player archetypes follow different aging curves.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  <a:latin typeface="Aptos"/>
              </a:defRPr>
            </a:pPr>
            <a:r>
              <a:t>The final project ends with both a research result and a simple prediction tool.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34640" y="5440680"/>
            <a:ext cx="6492240" cy="685800"/>
          </a:xfrm>
          <a:prstGeom prst="roundRect">
            <a:avLst/>
          </a:prstGeom>
          <a:solidFill>
            <a:srgbClr val="E5EFF9"/>
          </a:solidFill>
          <a:ln>
            <a:solidFill>
              <a:srgbClr val="2962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b="1" sz="1600">
                <a:solidFill>
                  <a:srgbClr val="11284C"/>
                </a:solidFill>
                <a:latin typeface="Aptos"/>
              </a:rPr>
              <a:t>Closing message</a:t>
            </a:r>
          </a:p>
          <a:p>
            <a:pPr>
              <a:defRPr sz="1400">
                <a:solidFill>
                  <a:srgbClr val="222222"/>
                </a:solidFill>
                <a:latin typeface="Aptos"/>
              </a:defRPr>
            </a:pPr>
            <a:r>
              <a:t>The best model is not always the most useful model. In this project, performance, explainability, and context all matter.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